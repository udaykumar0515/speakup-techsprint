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DM Sans" pitchFamily="2" charset="0"/>
      <p:regular r:id="rId16"/>
    </p:embeddedFont>
    <p:embeddedFont>
      <p:font typeface="DM Sans Bold" charset="0"/>
      <p:regular r:id="rId17"/>
    </p:embeddedFont>
    <p:embeddedFont>
      <p:font typeface="Georgia Pro" panose="02040502050405020303" pitchFamily="18" charset="0"/>
      <p:regular r:id="rId18"/>
    </p:embeddedFont>
    <p:embeddedFont>
      <p:font typeface="Georgia Pro Light" panose="02040302050405020303" pitchFamily="18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991600" cy="10287000"/>
            <a:chOff x="0" y="0"/>
            <a:chExt cx="1035548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5548" cy="1184737"/>
            </a:xfrm>
            <a:custGeom>
              <a:avLst/>
              <a:gdLst/>
              <a:ahLst/>
              <a:cxnLst/>
              <a:rect l="l" t="t" r="r" b="b"/>
              <a:pathLst>
                <a:path w="1035548" h="1184737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t="-378" b="-37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734675" y="1562100"/>
            <a:ext cx="6886575" cy="2920438"/>
            <a:chOff x="0" y="0"/>
            <a:chExt cx="9182100" cy="3893918"/>
          </a:xfrm>
        </p:grpSpPr>
        <p:sp>
          <p:nvSpPr>
            <p:cNvPr id="5" name="TextBox 5"/>
            <p:cNvSpPr txBox="1"/>
            <p:nvPr/>
          </p:nvSpPr>
          <p:spPr>
            <a:xfrm>
              <a:off x="0" y="180975"/>
              <a:ext cx="9182100" cy="18154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825"/>
                </a:lnSpc>
              </a:pPr>
              <a:r>
                <a:rPr lang="en-US" sz="9825">
                  <a:solidFill>
                    <a:srgbClr val="2362E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SpeakUp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47363"/>
              <a:ext cx="9172670" cy="16465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39"/>
                </a:lnSpc>
              </a:pPr>
              <a:r>
                <a:rPr lang="en-US" sz="359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AI-powered placement preparation for every student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44200" y="8740903"/>
            <a:ext cx="5743575" cy="888872"/>
            <a:chOff x="0" y="0"/>
            <a:chExt cx="7658100" cy="1185162"/>
          </a:xfrm>
        </p:grpSpPr>
        <p:sp>
          <p:nvSpPr>
            <p:cNvPr id="8" name="TextBox 8"/>
            <p:cNvSpPr txBox="1"/>
            <p:nvPr/>
          </p:nvSpPr>
          <p:spPr>
            <a:xfrm>
              <a:off x="0" y="691344"/>
              <a:ext cx="7658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SpeakUp Labs Team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7658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0E1629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3034891" cy="7886185"/>
            <a:chOff x="0" y="0"/>
            <a:chExt cx="17379855" cy="10514914"/>
          </a:xfrm>
        </p:grpSpPr>
        <p:sp>
          <p:nvSpPr>
            <p:cNvPr id="3" name="TextBox 3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362E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Problem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028753"/>
              <a:ext cx="17379855" cy="84861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03"/>
                </a:lnSpc>
              </a:pPr>
              <a:endParaRPr/>
            </a:p>
            <a:p>
              <a:pPr marL="709909" lvl="1" indent="-354955" algn="l">
                <a:lnSpc>
                  <a:spcPts val="4603"/>
                </a:lnSpc>
                <a:buFont typeface="Arial"/>
                <a:buChar char="•"/>
              </a:pPr>
              <a:r>
                <a:rPr lang="en-US" sz="3288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Students fail interviews due to:</a:t>
              </a:r>
            </a:p>
            <a:p>
              <a:pPr marL="1419819" lvl="2" indent="-473273" algn="l">
                <a:lnSpc>
                  <a:spcPts val="4603"/>
                </a:lnSpc>
                <a:buFont typeface="Arial"/>
                <a:buChar char="⚬"/>
              </a:pPr>
              <a:r>
                <a:rPr lang="en-US" sz="3288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Lack of communication practice</a:t>
              </a:r>
            </a:p>
            <a:p>
              <a:pPr marL="1419819" lvl="2" indent="-473273" algn="l">
                <a:lnSpc>
                  <a:spcPts val="4603"/>
                </a:lnSpc>
                <a:buFont typeface="Arial"/>
                <a:buChar char="⚬"/>
              </a:pPr>
              <a:r>
                <a:rPr lang="en-US" sz="3288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No structured feedback</a:t>
              </a:r>
            </a:p>
            <a:p>
              <a:pPr marL="1419819" lvl="2" indent="-473273" algn="l">
                <a:lnSpc>
                  <a:spcPts val="4603"/>
                </a:lnSpc>
                <a:buFont typeface="Arial"/>
                <a:buChar char="⚬"/>
              </a:pPr>
              <a:r>
                <a:rPr lang="en-US" sz="3288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No realistic interview simulation</a:t>
              </a:r>
            </a:p>
            <a:p>
              <a:pPr marL="709909" lvl="1" indent="-354955" algn="l">
                <a:lnSpc>
                  <a:spcPts val="4603"/>
                </a:lnSpc>
                <a:buFont typeface="Arial"/>
                <a:buChar char="•"/>
              </a:pPr>
              <a:r>
                <a:rPr lang="en-US" sz="3288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Coaching is:</a:t>
              </a:r>
            </a:p>
            <a:p>
              <a:pPr marL="1419819" lvl="2" indent="-473273" algn="l">
                <a:lnSpc>
                  <a:spcPts val="4603"/>
                </a:lnSpc>
                <a:buFont typeface="Arial"/>
                <a:buChar char="⚬"/>
              </a:pPr>
              <a:r>
                <a:rPr lang="en-US" sz="3288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Expensive</a:t>
              </a:r>
            </a:p>
            <a:p>
              <a:pPr marL="1419819" lvl="2" indent="-473273" algn="l">
                <a:lnSpc>
                  <a:spcPts val="4603"/>
                </a:lnSpc>
                <a:buFont typeface="Arial"/>
                <a:buChar char="⚬"/>
              </a:pPr>
              <a:r>
                <a:rPr lang="en-US" sz="3288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Not scalable</a:t>
              </a:r>
            </a:p>
            <a:p>
              <a:pPr marL="1419819" lvl="2" indent="-473273" algn="l">
                <a:lnSpc>
                  <a:spcPts val="4603"/>
                </a:lnSpc>
                <a:buFont typeface="Arial"/>
                <a:buChar char="⚬"/>
              </a:pPr>
              <a:r>
                <a:rPr lang="en-US" sz="3288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Inaccessible to Tier-2/3 colleges</a:t>
              </a:r>
            </a:p>
            <a:p>
              <a:pPr marL="0" lvl="0" indent="0" algn="l">
                <a:lnSpc>
                  <a:spcPts val="4603"/>
                </a:lnSpc>
              </a:pPr>
              <a:endParaRPr lang="en-US" sz="3288">
                <a:solidFill>
                  <a:srgbClr val="0E162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0786655" y="-1075940"/>
            <a:ext cx="10308722" cy="12438880"/>
          </a:xfrm>
          <a:custGeom>
            <a:avLst/>
            <a:gdLst/>
            <a:ahLst/>
            <a:cxnLst/>
            <a:rect l="l" t="t" r="r" b="b"/>
            <a:pathLst>
              <a:path w="10308722" h="12438880">
                <a:moveTo>
                  <a:pt x="0" y="0"/>
                </a:moveTo>
                <a:lnTo>
                  <a:pt x="10308722" y="0"/>
                </a:lnTo>
                <a:lnTo>
                  <a:pt x="10308722" y="12438880"/>
                </a:lnTo>
                <a:lnTo>
                  <a:pt x="0" y="12438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/>
        </p:nvGraphicFramePr>
        <p:xfrm>
          <a:off x="1179535" y="2865522"/>
          <a:ext cx="5657850" cy="377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81800" imgH="4902200" progId="Excel.Sheet.12">
                  <p:embed/>
                </p:oleObj>
              </mc:Choice>
              <mc:Fallback>
                <p:oleObj name="Worksheet" r:id="rId2" imgW="6781800" imgH="4902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79535" y="2865522"/>
                        <a:ext cx="5657850" cy="377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666750" y="733425"/>
            <a:ext cx="13375062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Existing Solutions &amp; Gaps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FFC6BD-DD1B-0943-1255-E8828FCA7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911680"/>
              </p:ext>
            </p:extLst>
          </p:nvPr>
        </p:nvGraphicFramePr>
        <p:xfrm>
          <a:off x="1524000" y="2095500"/>
          <a:ext cx="14385717" cy="7200894"/>
        </p:xfrm>
        <a:graphic>
          <a:graphicData uri="http://schemas.openxmlformats.org/drawingml/2006/table">
            <a:tbl>
              <a:tblPr/>
              <a:tblGrid>
                <a:gridCol w="4795239">
                  <a:extLst>
                    <a:ext uri="{9D8B030D-6E8A-4147-A177-3AD203B41FA5}">
                      <a16:colId xmlns:a16="http://schemas.microsoft.com/office/drawing/2014/main" val="1589955819"/>
                    </a:ext>
                  </a:extLst>
                </a:gridCol>
                <a:gridCol w="4795239">
                  <a:extLst>
                    <a:ext uri="{9D8B030D-6E8A-4147-A177-3AD203B41FA5}">
                      <a16:colId xmlns:a16="http://schemas.microsoft.com/office/drawing/2014/main" val="1303938608"/>
                    </a:ext>
                  </a:extLst>
                </a:gridCol>
                <a:gridCol w="4795239">
                  <a:extLst>
                    <a:ext uri="{9D8B030D-6E8A-4147-A177-3AD203B41FA5}">
                      <a16:colId xmlns:a16="http://schemas.microsoft.com/office/drawing/2014/main" val="809921985"/>
                    </a:ext>
                  </a:extLst>
                </a:gridCol>
              </a:tblGrid>
              <a:tr h="1200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effectLst/>
                        </a:rPr>
                        <a:t>Existing Solutions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>
                          <a:effectLst/>
                        </a:rPr>
                        <a:t>What They Do Well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b="1" dirty="0">
                          <a:effectLst/>
                        </a:rPr>
                        <a:t>What They Lack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6273638"/>
                  </a:ext>
                </a:extLst>
              </a:tr>
              <a:tr h="1200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 err="1">
                          <a:effectLst/>
                        </a:rPr>
                        <a:t>LeetCode</a:t>
                      </a:r>
                      <a:r>
                        <a:rPr lang="en-IN" sz="2800" b="1" dirty="0">
                          <a:effectLst/>
                        </a:rPr>
                        <a:t> / </a:t>
                      </a:r>
                      <a:r>
                        <a:rPr lang="en-IN" sz="2800" b="1" dirty="0" err="1">
                          <a:effectLst/>
                        </a:rPr>
                        <a:t>HackerRank</a:t>
                      </a:r>
                      <a:endParaRPr lang="en-IN" sz="2800" b="1" dirty="0">
                        <a:effectLst/>
                      </a:endParaRP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Technical coding practice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❌ Communication ❌ Interviews ❌ GD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16275"/>
                  </a:ext>
                </a:extLst>
              </a:tr>
              <a:tr h="1200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InterviewBit / Scaler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Structured content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❌ Personalized feedback ❌ Cost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234228"/>
                  </a:ext>
                </a:extLst>
              </a:tr>
              <a:tr h="1200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Pramp / Mocking platforms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1-on-1 interviews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❌ Scalability ❌ GD simulation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502661"/>
                  </a:ext>
                </a:extLst>
              </a:tr>
              <a:tr h="1200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Resume scanners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ATS keyword checks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</a:rPr>
                        <a:t>❌ Interview linkage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37508"/>
                  </a:ext>
                </a:extLst>
              </a:tr>
              <a:tr h="1200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</a:rPr>
                        <a:t>Most platforms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</a:rPr>
                        <a:t>Interviews OR aptitude</a:t>
                      </a: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IN" sz="2800" b="0" i="0" dirty="0">
                          <a:solidFill>
                            <a:srgbClr val="000000"/>
                          </a:solidFill>
                          <a:effectLst/>
                        </a:rPr>
                        <a:t>❌ </a:t>
                      </a:r>
                      <a:r>
                        <a:rPr lang="en-IN" sz="2800" b="1" i="0" dirty="0">
                          <a:solidFill>
                            <a:srgbClr val="000000"/>
                          </a:solidFill>
                          <a:effectLst/>
                        </a:rPr>
                        <a:t>No Group Discussion practice</a:t>
                      </a:r>
                      <a:endParaRPr lang="en-IN" sz="2800" dirty="0">
                        <a:effectLst/>
                      </a:endParaRPr>
                    </a:p>
                  </a:txBody>
                  <a:tcPr marL="80923" marR="80923" marT="40461" marB="40461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7278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1194560"/>
            <a:ext cx="9047663" cy="7897879"/>
            <a:chOff x="0" y="0"/>
            <a:chExt cx="12063550" cy="10530505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9438158" cy="3052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35"/>
                </a:lnSpc>
              </a:pPr>
              <a:r>
                <a:rPr lang="en-US" sz="8031">
                  <a:solidFill>
                    <a:srgbClr val="2362E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Solution Overview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28808"/>
              <a:ext cx="12063550" cy="7001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716793" lvl="1" indent="-358396" algn="l">
                <a:lnSpc>
                  <a:spcPts val="4648"/>
                </a:lnSpc>
                <a:buFont typeface="Arial"/>
                <a:buChar char="•"/>
              </a:pPr>
              <a:r>
                <a:rPr lang="en-US" sz="3320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SpeakUp is an AI-powered practice ecosystem</a:t>
              </a:r>
            </a:p>
            <a:p>
              <a:pPr marL="716793" lvl="1" indent="-358396" algn="l">
                <a:lnSpc>
                  <a:spcPts val="4648"/>
                </a:lnSpc>
                <a:buFont typeface="Arial"/>
                <a:buChar char="•"/>
              </a:pPr>
              <a:r>
                <a:rPr lang="en-US" sz="3320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Designed to:</a:t>
              </a:r>
            </a:p>
            <a:p>
              <a:pPr marL="1433586" lvl="2" indent="-477862" algn="l">
                <a:lnSpc>
                  <a:spcPts val="4648"/>
                </a:lnSpc>
                <a:buFont typeface="Arial"/>
                <a:buChar char="⚬"/>
              </a:pPr>
              <a:r>
                <a:rPr lang="en-US" sz="3320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Simulate real placement scenarios</a:t>
              </a:r>
            </a:p>
            <a:p>
              <a:pPr marL="1433586" lvl="2" indent="-477862" algn="l">
                <a:lnSpc>
                  <a:spcPts val="4648"/>
                </a:lnSpc>
                <a:buFont typeface="Arial"/>
                <a:buChar char="⚬"/>
              </a:pPr>
              <a:r>
                <a:rPr lang="en-US" sz="3320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Provide structured, actionable feedback</a:t>
              </a:r>
            </a:p>
            <a:p>
              <a:pPr marL="1433586" lvl="2" indent="-477862" algn="l">
                <a:lnSpc>
                  <a:spcPts val="4648"/>
                </a:lnSpc>
                <a:buFont typeface="Arial"/>
                <a:buChar char="⚬"/>
              </a:pPr>
              <a:r>
                <a:rPr lang="en-US" sz="3320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Build confidence through repetition</a:t>
              </a:r>
            </a:p>
            <a:p>
              <a:pPr marL="716793" lvl="1" indent="-358396" algn="l">
                <a:lnSpc>
                  <a:spcPts val="4648"/>
                </a:lnSpc>
                <a:buFont typeface="Arial"/>
                <a:buChar char="•"/>
              </a:pPr>
              <a:r>
                <a:rPr lang="en-US" sz="3320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Built by students, for students</a:t>
              </a:r>
            </a:p>
            <a:p>
              <a:pPr marL="0" lvl="0" indent="0" algn="l">
                <a:lnSpc>
                  <a:spcPts val="4648"/>
                </a:lnSpc>
              </a:pPr>
              <a:endParaRPr lang="en-US" sz="3320">
                <a:solidFill>
                  <a:srgbClr val="0E162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3015224"/>
            <a:ext cx="9068914" cy="4530854"/>
          </a:xfrm>
          <a:custGeom>
            <a:avLst/>
            <a:gdLst/>
            <a:ahLst/>
            <a:cxnLst/>
            <a:rect l="l" t="t" r="r" b="b"/>
            <a:pathLst>
              <a:path w="9068914" h="4530854">
                <a:moveTo>
                  <a:pt x="0" y="0"/>
                </a:moveTo>
                <a:lnTo>
                  <a:pt x="9068914" y="0"/>
                </a:lnTo>
                <a:lnTo>
                  <a:pt x="9068914" y="4530855"/>
                </a:lnTo>
                <a:lnTo>
                  <a:pt x="0" y="45308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001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6750" y="733425"/>
            <a:ext cx="5753100" cy="226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Core Modules</a:t>
            </a:r>
          </a:p>
        </p:txBody>
      </p:sp>
      <p:sp>
        <p:nvSpPr>
          <p:cNvPr id="4" name="Freeform 4"/>
          <p:cNvSpPr/>
          <p:nvPr/>
        </p:nvSpPr>
        <p:spPr>
          <a:xfrm>
            <a:off x="8575985" y="3549827"/>
            <a:ext cx="9068914" cy="3996252"/>
          </a:xfrm>
          <a:custGeom>
            <a:avLst/>
            <a:gdLst/>
            <a:ahLst/>
            <a:cxnLst/>
            <a:rect l="l" t="t" r="r" b="b"/>
            <a:pathLst>
              <a:path w="9068914" h="3996252">
                <a:moveTo>
                  <a:pt x="0" y="0"/>
                </a:moveTo>
                <a:lnTo>
                  <a:pt x="9068914" y="0"/>
                </a:lnTo>
                <a:lnTo>
                  <a:pt x="9068914" y="3996252"/>
                </a:lnTo>
                <a:lnTo>
                  <a:pt x="0" y="39962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4545" b="-12389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27748" y="766988"/>
            <a:ext cx="14673254" cy="6939461"/>
            <a:chOff x="0" y="0"/>
            <a:chExt cx="19564339" cy="9252615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9564339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362E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Aptitude Arena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495603"/>
              <a:ext cx="11989916" cy="57570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86449" lvl="1" indent="-443225" algn="l">
                <a:lnSpc>
                  <a:spcPts val="5748"/>
                </a:lnSpc>
                <a:buFont typeface="Arial"/>
                <a:buChar char="•"/>
              </a:pPr>
              <a:r>
                <a:rPr lang="en-US" sz="4105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Quantitative • Logical • Verbal</a:t>
              </a:r>
            </a:p>
            <a:p>
              <a:pPr marL="886449" lvl="1" indent="-443225" algn="l">
                <a:lnSpc>
                  <a:spcPts val="5748"/>
                </a:lnSpc>
                <a:buFont typeface="Arial"/>
                <a:buChar char="•"/>
              </a:pPr>
              <a:r>
                <a:rPr lang="en-US" sz="4105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AI-generated questions + explanations</a:t>
              </a:r>
            </a:p>
            <a:p>
              <a:pPr marL="886449" lvl="1" indent="-443225" algn="l">
                <a:lnSpc>
                  <a:spcPts val="5748"/>
                </a:lnSpc>
                <a:buFont typeface="Arial"/>
                <a:buChar char="•"/>
              </a:pPr>
              <a:r>
                <a:rPr lang="en-US" sz="4105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Instant scoring + review mode</a:t>
              </a:r>
            </a:p>
            <a:p>
              <a:pPr marL="886449" lvl="1" indent="-443225" algn="l">
                <a:lnSpc>
                  <a:spcPts val="5748"/>
                </a:lnSpc>
                <a:buFont typeface="Arial"/>
                <a:buChar char="•"/>
              </a:pPr>
              <a:r>
                <a:rPr lang="en-US" sz="4105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Progress tracking over time</a:t>
              </a:r>
            </a:p>
            <a:p>
              <a:pPr marL="0" lvl="0" indent="0" algn="l">
                <a:lnSpc>
                  <a:spcPts val="5748"/>
                </a:lnSpc>
              </a:pPr>
              <a:endParaRPr lang="en-US" sz="4105">
                <a:solidFill>
                  <a:srgbClr val="0E162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967464"/>
            <a:ext cx="15878354" cy="6656572"/>
            <a:chOff x="0" y="0"/>
            <a:chExt cx="21171139" cy="8875429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362E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Mock Interview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257109"/>
              <a:ext cx="21171139" cy="5618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64771" lvl="1" indent="-432385" algn="l">
                <a:lnSpc>
                  <a:spcPts val="5607"/>
                </a:lnSpc>
                <a:buFont typeface="Arial"/>
                <a:buChar char="•"/>
              </a:pPr>
              <a:r>
                <a:rPr lang="en-US" sz="4005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HR / Technical / Job-role modes</a:t>
              </a:r>
            </a:p>
            <a:p>
              <a:pPr marL="864771" lvl="1" indent="-432385" algn="l">
                <a:lnSpc>
                  <a:spcPts val="5607"/>
                </a:lnSpc>
                <a:buFont typeface="Arial"/>
                <a:buChar char="•"/>
              </a:pPr>
              <a:r>
                <a:rPr lang="en-US" sz="4005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Resume-aware interviewing option</a:t>
              </a:r>
            </a:p>
            <a:p>
              <a:pPr marL="864771" lvl="1" indent="-432385" algn="l">
                <a:lnSpc>
                  <a:spcPts val="5607"/>
                </a:lnSpc>
                <a:buFont typeface="Arial"/>
                <a:buChar char="•"/>
              </a:pPr>
              <a:r>
                <a:rPr lang="en-US" sz="4005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Difficulty progression</a:t>
              </a:r>
            </a:p>
            <a:p>
              <a:pPr marL="864771" lvl="1" indent="-432385" algn="l">
                <a:lnSpc>
                  <a:spcPts val="5607"/>
                </a:lnSpc>
                <a:buFont typeface="Arial"/>
                <a:buChar char="•"/>
              </a:pPr>
              <a:r>
                <a:rPr lang="en-US" sz="4005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End-to-end feedback scorecard</a:t>
              </a:r>
            </a:p>
            <a:p>
              <a:pPr marL="864771" lvl="1" indent="-432385" algn="l">
                <a:lnSpc>
                  <a:spcPts val="5607"/>
                </a:lnSpc>
                <a:buFont typeface="Arial"/>
                <a:buChar char="•"/>
              </a:pPr>
              <a:r>
                <a:rPr lang="en-US" sz="4005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“Teach Me” coaching per question</a:t>
              </a:r>
            </a:p>
            <a:p>
              <a:pPr marL="0" lvl="0" indent="0" algn="l">
                <a:lnSpc>
                  <a:spcPts val="5607"/>
                </a:lnSpc>
              </a:pPr>
              <a:endParaRPr lang="en-US" sz="4005">
                <a:solidFill>
                  <a:srgbClr val="0E162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66988" y="1028700"/>
            <a:ext cx="10428897" cy="6512243"/>
            <a:chOff x="0" y="0"/>
            <a:chExt cx="13905196" cy="8682990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362E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GD Simulator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945257"/>
              <a:ext cx="13905196" cy="57377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3 AI bots with unique personalities</a:t>
              </a:r>
            </a:p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User debates in real-time</a:t>
              </a:r>
            </a:p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Difficulty levels (easy/moderate/competitive)</a:t>
              </a:r>
            </a:p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AI moderator feedback + scores</a:t>
              </a:r>
            </a:p>
            <a:p>
              <a:pPr marL="0" lvl="0" indent="0" algn="l">
                <a:lnSpc>
                  <a:spcPts val="5753"/>
                </a:lnSpc>
              </a:pPr>
              <a:endParaRPr lang="en-US" sz="4109">
                <a:solidFill>
                  <a:srgbClr val="0E162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06493" y="895049"/>
            <a:ext cx="9728182" cy="7102492"/>
            <a:chOff x="0" y="0"/>
            <a:chExt cx="12970909" cy="9469989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362E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Resume Analyzer 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767056"/>
              <a:ext cx="12970909" cy="6702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Upload PDF resume</a:t>
              </a:r>
            </a:p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Azure Document Intelligence extracts content</a:t>
              </a:r>
            </a:p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AI ATS scoring + keyword suggestions</a:t>
              </a:r>
            </a:p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What recruiters “actually see”</a:t>
              </a:r>
            </a:p>
            <a:p>
              <a:pPr marL="0" lvl="0" indent="0" algn="l">
                <a:lnSpc>
                  <a:spcPts val="5753"/>
                </a:lnSpc>
              </a:pPr>
              <a:endParaRPr lang="en-US" sz="4109">
                <a:solidFill>
                  <a:srgbClr val="0E162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60786" y="0"/>
            <a:ext cx="10527214" cy="10527214"/>
          </a:xfrm>
          <a:custGeom>
            <a:avLst/>
            <a:gdLst/>
            <a:ahLst/>
            <a:cxnLst/>
            <a:rect l="l" t="t" r="r" b="b"/>
            <a:pathLst>
              <a:path w="10527214" h="10527214">
                <a:moveTo>
                  <a:pt x="0" y="0"/>
                </a:moveTo>
                <a:lnTo>
                  <a:pt x="10527214" y="0"/>
                </a:lnTo>
                <a:lnTo>
                  <a:pt x="10527214" y="10527214"/>
                </a:lnTo>
                <a:lnTo>
                  <a:pt x="0" y="10527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6750" y="733425"/>
            <a:ext cx="5753100" cy="226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Technology Stack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750" y="3606169"/>
            <a:ext cx="8208689" cy="3027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5289" lvl="1" indent="-387645" algn="l">
              <a:lnSpc>
                <a:spcPts val="3950"/>
              </a:lnSpc>
              <a:buFont typeface="Arial"/>
              <a:buChar char="•"/>
            </a:pPr>
            <a:r>
              <a:rPr lang="en-US" sz="3590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Azure OpenAI (GPT-4.1 / GPT-4.1-mini)</a:t>
            </a:r>
          </a:p>
          <a:p>
            <a:pPr marL="775289" lvl="1" indent="-387645" algn="l">
              <a:lnSpc>
                <a:spcPts val="3950"/>
              </a:lnSpc>
              <a:buFont typeface="Arial"/>
              <a:buChar char="•"/>
            </a:pPr>
            <a:r>
              <a:rPr lang="en-US" sz="3590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Azure Document Intelligence</a:t>
            </a:r>
          </a:p>
          <a:p>
            <a:pPr marL="775289" lvl="1" indent="-387645" algn="l">
              <a:lnSpc>
                <a:spcPts val="3950"/>
              </a:lnSpc>
              <a:buFont typeface="Arial"/>
              <a:buChar char="•"/>
            </a:pPr>
            <a:r>
              <a:rPr lang="en-US" sz="3590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Firebase Authentication + Firestore</a:t>
            </a:r>
          </a:p>
          <a:p>
            <a:pPr marL="775289" lvl="1" indent="-387645" algn="l">
              <a:lnSpc>
                <a:spcPts val="3950"/>
              </a:lnSpc>
              <a:buFont typeface="Arial"/>
              <a:buChar char="•"/>
            </a:pPr>
            <a:r>
              <a:rPr lang="en-US" sz="3590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React + TypeScript + Tailwind</a:t>
            </a:r>
          </a:p>
          <a:p>
            <a:pPr marL="775289" lvl="1" indent="-387645" algn="l">
              <a:lnSpc>
                <a:spcPts val="3950"/>
              </a:lnSpc>
              <a:buFont typeface="Arial"/>
              <a:buChar char="•"/>
            </a:pPr>
            <a:r>
              <a:rPr lang="en-US" sz="3590">
                <a:solidFill>
                  <a:srgbClr val="00000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FastAPI backend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9728182" cy="8083266"/>
            <a:chOff x="0" y="0"/>
            <a:chExt cx="12970909" cy="10777689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362EA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Impact &amp; Target Users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074756"/>
              <a:ext cx="12970909" cy="6702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Tier-2/3 students lack guidance &amp; practice</a:t>
              </a:r>
            </a:p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SpeakUp gives equal access to interview coaching</a:t>
              </a:r>
            </a:p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Builds communication + confidence</a:t>
              </a:r>
            </a:p>
            <a:p>
              <a:pPr marL="887349" lvl="1" indent="-443674" algn="l">
                <a:lnSpc>
                  <a:spcPts val="5753"/>
                </a:lnSpc>
                <a:buFont typeface="Arial"/>
                <a:buChar char="•"/>
              </a:pPr>
              <a:r>
                <a:rPr lang="en-US" sz="4109">
                  <a:solidFill>
                    <a:srgbClr val="0E1629"/>
                  </a:solidFill>
                  <a:latin typeface="DM Sans"/>
                  <a:ea typeface="DM Sans"/>
                  <a:cs typeface="DM Sans"/>
                  <a:sym typeface="DM Sans"/>
                </a:rPr>
                <a:t>Directly improves employability</a:t>
              </a:r>
            </a:p>
            <a:p>
              <a:pPr algn="l">
                <a:lnSpc>
                  <a:spcPts val="5753"/>
                </a:lnSpc>
              </a:pPr>
              <a:endParaRPr lang="en-US" sz="4109">
                <a:solidFill>
                  <a:srgbClr val="0E162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33425"/>
            <a:ext cx="15821025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MVP &amp; </a:t>
            </a:r>
            <a:r>
              <a:rPr lang="en-US" sz="8000" u="none" strike="noStrike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Roadmap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4571336"/>
            <a:ext cx="8477250" cy="4024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7349" lvl="1" indent="-443674" algn="l">
              <a:lnSpc>
                <a:spcPts val="4521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Text-based Interview + GD + Aptitude + Resume</a:t>
            </a:r>
          </a:p>
          <a:p>
            <a:pPr marL="887349" lvl="1" indent="-443674" algn="l">
              <a:lnSpc>
                <a:spcPts val="4521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Real AI feedback &amp; scoring</a:t>
            </a:r>
          </a:p>
          <a:p>
            <a:pPr marL="887349" lvl="1" indent="-443674" algn="l">
              <a:lnSpc>
                <a:spcPts val="4521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Firebase Auth + Firestore saving results</a:t>
            </a:r>
          </a:p>
          <a:p>
            <a:pPr marL="887349" lvl="1" indent="-443674" algn="l">
              <a:lnSpc>
                <a:spcPts val="4521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Dashboard metrics + history tracking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76381" y="2740432"/>
            <a:ext cx="5296039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MVP Today</a:t>
            </a:r>
          </a:p>
          <a:p>
            <a:pPr marL="0" lvl="0" indent="0" algn="r">
              <a:lnSpc>
                <a:spcPts val="6600"/>
              </a:lnSpc>
              <a:spcBef>
                <a:spcPct val="0"/>
              </a:spcBef>
            </a:pPr>
            <a:r>
              <a:rPr lang="en-US" sz="6000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(Working Now)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20469" y="3159532"/>
            <a:ext cx="7669686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6000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🎙️Next Big Upgr</a:t>
            </a:r>
            <a:r>
              <a:rPr lang="en-US" sz="6000" u="none" strike="noStrike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ade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97662" y="5142836"/>
            <a:ext cx="8115300" cy="3452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7349" lvl="1" indent="-443674" algn="l">
              <a:lnSpc>
                <a:spcPts val="4521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Voice-based interviews &amp; GD</a:t>
            </a:r>
          </a:p>
          <a:p>
            <a:pPr marL="887349" lvl="1" indent="-443674" algn="l">
              <a:lnSpc>
                <a:spcPts val="4521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Speech metrics (pace, fluency, filler words, confidence)</a:t>
            </a:r>
          </a:p>
          <a:p>
            <a:pPr marL="887349" lvl="1" indent="-443674" algn="l">
              <a:lnSpc>
                <a:spcPts val="4521"/>
              </a:lnSpc>
              <a:buFont typeface="Arial"/>
              <a:buChar char="•"/>
            </a:pPr>
            <a:r>
              <a:rPr lang="en-US" sz="410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“Real room” experience via orbs</a:t>
            </a:r>
          </a:p>
          <a:p>
            <a:pPr algn="l">
              <a:lnSpc>
                <a:spcPts val="4521"/>
              </a:lnSpc>
            </a:pPr>
            <a:endParaRPr lang="en-US" sz="4109">
              <a:solidFill>
                <a:srgbClr val="000000"/>
              </a:solidFill>
              <a:latin typeface="Georgia Pro"/>
              <a:ea typeface="Georgia Pro"/>
              <a:cs typeface="Georgia Pro"/>
              <a:sym typeface="Georgia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733425"/>
            <a:ext cx="16954500" cy="114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Why Imagine Cup?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816509"/>
            <a:ext cx="12982480" cy="535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9980" lvl="1" indent="-469990" algn="l">
              <a:lnSpc>
                <a:spcPts val="6095"/>
              </a:lnSpc>
              <a:buFont typeface="Arial"/>
              <a:buChar char="•"/>
            </a:pPr>
            <a:r>
              <a:rPr lang="en-US" sz="4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Education &amp; Employability: Directly improves student outcomes</a:t>
            </a:r>
          </a:p>
          <a:p>
            <a:pPr marL="939980" lvl="1" indent="-469990" algn="l">
              <a:lnSpc>
                <a:spcPts val="6095"/>
              </a:lnSpc>
              <a:buFont typeface="Arial"/>
              <a:buChar char="•"/>
            </a:pPr>
            <a:r>
              <a:rPr lang="en-US" sz="4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Inclusive AI: Affordable access regardless of background</a:t>
            </a:r>
          </a:p>
          <a:p>
            <a:pPr marL="939980" lvl="1" indent="-469990" algn="l">
              <a:lnSpc>
                <a:spcPts val="6095"/>
              </a:lnSpc>
              <a:buFont typeface="Arial"/>
              <a:buChar char="•"/>
            </a:pPr>
            <a:r>
              <a:rPr lang="en-US" sz="4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Practical Impact: Solves a real, current problem</a:t>
            </a:r>
          </a:p>
          <a:p>
            <a:pPr marL="939980" lvl="1" indent="-469990" algn="l">
              <a:lnSpc>
                <a:spcPts val="6095"/>
              </a:lnSpc>
              <a:buFont typeface="Arial"/>
              <a:buChar char="•"/>
            </a:pPr>
            <a:r>
              <a:rPr lang="en-US" sz="4353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Scalable Vision: Can grow beyond a college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544321" y="3529096"/>
            <a:ext cx="12235129" cy="1614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030"/>
              </a:lnSpc>
              <a:spcBef>
                <a:spcPct val="0"/>
              </a:spcBef>
            </a:pPr>
            <a:r>
              <a:rPr lang="en-US" sz="12030" u="none" strike="noStrike">
                <a:solidFill>
                  <a:srgbClr val="2362EA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Thank You!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7466" y="5172075"/>
            <a:ext cx="9916200" cy="1266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8"/>
              </a:lnSpc>
              <a:spcBef>
                <a:spcPct val="0"/>
              </a:spcBef>
            </a:pPr>
            <a:r>
              <a:rPr lang="en-US" sz="4444">
                <a:solidFill>
                  <a:srgbClr val="AD65D7"/>
                </a:solidFill>
                <a:latin typeface="Georgia Pro"/>
                <a:ea typeface="Georgia Pro"/>
                <a:cs typeface="Georgia Pro"/>
                <a:sym typeface="Georgia Pro"/>
              </a:rPr>
              <a:t>Empowering students to speak up with confidence.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PresentationFormat>Custom</PresentationFormat>
  <Paragraphs>91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Georgia Pro Light</vt:lpstr>
      <vt:lpstr>DM Sans</vt:lpstr>
      <vt:lpstr>DM Sans Bold</vt:lpstr>
      <vt:lpstr>Calibri</vt:lpstr>
      <vt:lpstr>Georgia Pro</vt:lpstr>
      <vt:lpstr>Arial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Empowering Voice</dc:title>
  <dc:description>Presentation - Empowering Voice</dc:description>
  <cp:lastModifiedBy>Udaykumar Haibathi</cp:lastModifiedBy>
  <cp:revision>2</cp:revision>
  <dcterms:created xsi:type="dcterms:W3CDTF">2006-08-16T00:00:00Z</dcterms:created>
  <dcterms:modified xsi:type="dcterms:W3CDTF">2026-01-09T21:05:11Z</dcterms:modified>
  <dc:identifier>DAG98L2ZfXg</dc:identifier>
</cp:coreProperties>
</file>